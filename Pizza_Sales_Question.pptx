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2507"/>
    <a:srgbClr val="14244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3BEB39-1743-438E-A02E-563FB6348F76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0277F-6A8A-4ECC-A401-70FF75BEE6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1318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0277F-6A8A-4ECC-A401-70FF75BEE64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33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D7C90-775C-286A-0B7C-B93830ACEE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7F2E9-7493-98BF-2DE3-26DFB7C475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270061-1C7B-93B6-050F-9A37B235C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E9AB3-11D0-05AE-155E-A8BB9C1B5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407A1-D47C-66FB-9E84-583D5D6C1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37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D0FE1-146B-7399-4F6A-3115622F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88EFE0-6E4C-B7FD-5D37-96D77FA50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A2876A-F954-B530-4772-8113CCF62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45199-13C9-BF8D-28BB-0E9431C7E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67F651-73E5-DB9C-5BE6-0392E79DD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495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47EA9-17D9-DD81-8226-377EA627E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4CC6FE-B082-2B5E-D210-C3A33A1BE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DCF3-6BCB-6F17-2393-541353CBE2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758A9-B05F-3D3E-FFE8-98B7A0D26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72B73A-3F32-7840-1741-A5BBAD9A8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601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33D3FB-A292-D768-1574-74047F371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841F4-11E8-3361-FE8C-9AC9359F3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7A7CF9-59B2-1993-B63C-8F6F8786DC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C360BE-DD40-58ED-3BD8-C2982F206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13F7F8-B963-D256-8E58-5A36C6ACC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A701D7-3B88-8D57-F2DA-3CF055B87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47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8792A-F8D5-3E70-850E-E17233CCB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E0EF98-D34F-09E5-D934-EA48FED59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783141-675E-46DC-17D6-3861FAB849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E61DBA-A091-02FF-9969-8686138022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E746D-7B41-5C64-5513-D4B7E28C5B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DD3C8D4-B643-89DB-F005-CA972A35E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D65C96-F88B-4E0D-CD35-4E2626B63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A8125B-8B1F-D696-3B11-0ED018C7B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126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127BF9-E57C-3AC1-59AF-64A11227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906C48-6499-3727-1408-95D40D5A9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6B9822-1DC1-C795-3CF9-4046BF160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AFE957-4E22-F2FF-E06B-D22BB7F44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428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64312C-8DB9-6DFA-8DE9-B59DF673A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E21F07-3CC8-974B-7842-442674BD3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250AC-F933-0DA5-A189-B93CC2E4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6356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AC7BC-8A21-4F8B-9185-19D1A0EF0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143580-C0EB-AFBE-564E-D6A8F9326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9FC3AD-3B67-C83D-5E9A-BE79E92E6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EEDC7-5AE1-29FF-032F-E390C1419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58BE31-B1B2-82AC-8A6A-6CC3CBEC7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CD432F-521C-B2D4-4FDC-5F1CD0B9A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4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8F175-4A60-7E7F-3CDA-0FDEA2A3F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12E482-A428-5535-DDA1-2C435FBAC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88B6F-1F1D-6744-29DD-EAA90D744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61911-153C-AA34-8D85-048D9E47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7E5EAD-BD41-6E0E-9045-7B43F4A9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4A8D40-BD4A-2F18-669F-960182FD8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058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063D-AC35-EF45-621A-660F9BBE2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6700B3-BA1D-2B39-194B-B53171AFDB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E0F25-CA9E-8292-2B40-1CA41AFD3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44881-B548-B439-5A24-BAEE6995A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E2C75-7387-D8AC-4D47-B0FAD858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168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945C5B-F0F4-E90E-F951-1D5FA46AF2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14F94D-A80B-6DE9-C5CE-A903810BE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AFF3A-D5EA-D76F-6178-6000494AB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87123-489A-E20F-5A0D-272324B21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4F2DBC-8DD2-76E1-7964-0D79AD78A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145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D1BC55-FCC8-982F-DF96-3E33FBD91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AE3BF5-1710-A6EA-D7EB-2289C47F14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D7769-E35E-A0D6-039D-500347B2FB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F804FF-22D8-4219-B051-284BB73655FD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45DF27-8CB9-77A7-220A-B80C8194AE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6839C-E978-B919-984E-7C55167EB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ACE922-716D-421C-82EC-95A0ABBB09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918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7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20D3D2C-B3A7-7BC7-39B7-5E0AA61903B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saturation sat="99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6"/>
            <a:ext cx="12192000" cy="6779305"/>
          </a:xfrm>
          <a:prstGeom prst="rect">
            <a:avLst/>
          </a:prstGeom>
          <a:gradFill>
            <a:gsLst>
              <a:gs pos="0">
                <a:srgbClr val="512507"/>
              </a:gs>
              <a:gs pos="100000">
                <a:srgbClr val="142440"/>
              </a:gs>
            </a:gsLst>
            <a:lin ang="7200000" scaled="0"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EA8FFCC-C2EA-DCAC-5D1A-2B7AE7E0B3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6">
                    <a:lumMod val="50000"/>
                  </a:schemeClr>
                </a:solidFill>
                <a:latin typeface="Arial Black" panose="020B0A04020102020204" pitchFamily="34" charset="0"/>
              </a:rPr>
              <a:t>Pizza Sales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8F5C3-C6B1-7E5A-C6EB-96D3C0DA1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solidFill>
                  <a:srgbClr val="0070C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MS_SQL &amp; Excel</a:t>
            </a:r>
          </a:p>
          <a:p>
            <a:r>
              <a:rPr lang="en-US" sz="3200" dirty="0">
                <a:solidFill>
                  <a:srgbClr val="0070C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4802944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A135532-EB57-DA2D-154C-70AEFFF5B10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99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6"/>
            <a:ext cx="12192000" cy="6779305"/>
          </a:xfrm>
          <a:prstGeom prst="rect">
            <a:avLst/>
          </a:prstGeom>
          <a:gradFill>
            <a:gsLst>
              <a:gs pos="0">
                <a:srgbClr val="512507"/>
              </a:gs>
              <a:gs pos="100000">
                <a:srgbClr val="142440"/>
              </a:gs>
            </a:gsLst>
            <a:lin ang="7200000" scaled="0"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41FABDE-C54D-8130-E5D7-F60A6CE6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5373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FB408-F649-FDAB-CD13-76BC7814B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53730"/>
            <a:ext cx="12192000" cy="5904270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 "/>
              </a:rPr>
              <a:t>KPI’s REQUIREMENTS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           We need to analyze key indicators for our pizza sales data to gain insights info our business performance. Specifically, we want to calculate the following metrics: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1.Total Revenue:</a:t>
            </a:r>
            <a:r>
              <a:rPr lang="en-US" sz="2400" dirty="0"/>
              <a:t>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sum of the total price of all pizza orders.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 Average Order Value: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average amount spent per order, calculated by dividing the total revenue by the total number of orders.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Total Pizzas Sold:</a:t>
            </a:r>
            <a:r>
              <a:rPr lang="en-US" sz="2400" dirty="0"/>
              <a:t>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sum of the quantities of all pizzas sold.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 Total Orders: </a:t>
            </a:r>
            <a:r>
              <a:rPr lang="en-US" sz="2400" dirty="0">
                <a:solidFill>
                  <a:schemeClr val="bg1">
                    <a:lumMod val="95000"/>
                  </a:schemeClr>
                </a:solidFill>
              </a:rPr>
              <a:t>The total number of orders placed.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 Average Pizzas Per Order: </a:t>
            </a: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the average number of pizzas sold per order, calculated by dividing the total number of pizzas sold by the total number of orders.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1443669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D7D9B88-5911-28E3-B34D-CC3A802A3BA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50000"/>
                    </a14:imgEffect>
                    <a14:imgEffect>
                      <a14:saturation sat="99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56"/>
            <a:ext cx="12192000" cy="6779305"/>
          </a:xfrm>
          <a:prstGeom prst="rect">
            <a:avLst/>
          </a:prstGeom>
          <a:gradFill>
            <a:gsLst>
              <a:gs pos="0">
                <a:srgbClr val="512507"/>
              </a:gs>
              <a:gs pos="100000">
                <a:srgbClr val="142440"/>
              </a:gs>
            </a:gsLst>
            <a:lin ang="7200000" scaled="0"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AD903AF-7E6F-65D5-A978-47683236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8424"/>
            <a:ext cx="12192000" cy="81748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b="1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82591-CBFD-21F6-9F25-E29F451F16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25910"/>
            <a:ext cx="12189546" cy="6023667"/>
          </a:xfr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 "/>
              </a:rPr>
              <a:t>CHARTS REQUIREMENT</a:t>
            </a:r>
            <a:endParaRPr lang="en-US" b="1" dirty="0">
              <a:solidFill>
                <a:schemeClr val="accent6">
                  <a:lumMod val="60000"/>
                  <a:lumOff val="40000"/>
                </a:schemeClr>
              </a:solidFill>
              <a:latin typeface="Segoe UI "/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We would like to visualize various aspects of our pizza sales data to gain insights and understand key trends. We have identified the following requirements for creating charts: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1.Daily Trend for Told Orders: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Create a bar chart that displays the daily trend of total orders over a specific time period. This chart will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Help us identify any patterns or fluctuations in order volumes on a daily basis.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2.Hourly Trend for Total Orders: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Create a line chart illustrates the hourly trend of total orders throughout the day. This chart will allow us to identify peak hours or periods of high order activity.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3.Percentage of sales by Pizza Category:</a:t>
            </a:r>
            <a:endParaRPr lang="en-US" sz="2000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sz="2000" dirty="0">
                <a:solidFill>
                  <a:schemeClr val="bg1">
                    <a:lumMod val="95000"/>
                  </a:schemeClr>
                </a:solidFill>
              </a:rPr>
              <a:t>Create a pie chart that shows the distribution of sales across different pizza categories. This chart will provide insights into the popularity of various pizza categories and their contribution to overall sales.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4421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AD33A7-4CA1-0A08-F48E-28FED5D835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saturation sat="99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"/>
            <a:ext cx="12192000" cy="6779305"/>
          </a:xfrm>
          <a:prstGeom prst="rect">
            <a:avLst/>
          </a:prstGeom>
          <a:gradFill>
            <a:gsLst>
              <a:gs pos="0">
                <a:srgbClr val="512507"/>
              </a:gs>
              <a:gs pos="100000">
                <a:srgbClr val="142440"/>
              </a:gs>
            </a:gsLst>
            <a:lin ang="7200000" scaled="0"/>
          </a:gradFill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2EAEC42-20DC-7F34-4081-D420C0577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79714" cy="8062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dirty="0">
                <a:solidFill>
                  <a:schemeClr val="bg1">
                    <a:lumMod val="75000"/>
                  </a:schemeClr>
                </a:solidFill>
                <a:latin typeface="Montserrat" panose="00000500000000000000" pitchFamily="2" charset="0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79997-78C6-B83B-A492-804CFB29F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86" y="806246"/>
            <a:ext cx="12167428" cy="605175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6">
                    <a:lumMod val="60000"/>
                    <a:lumOff val="40000"/>
                  </a:schemeClr>
                </a:solidFill>
                <a:latin typeface="Segoe UI "/>
              </a:rPr>
              <a:t>CHARTS REQUIREMEMNT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4.Percentage of Sakes by Pizza Size: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</a:rPr>
              <a:t>Generate a pie chart that represents the percentage of sales attributed to different pizza sizes. This chart will help us understand customer preferences for pizza sizes and their impact on sales.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5.Total pizzas Sold by Pizza Category: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</a:rPr>
              <a:t>Create Funnel chart that presents the total number of pizzas sold for each pizza category. This chart will allow us to compare the sales performance of different pizza categories.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6.Top 5 Best Sellers by Total Pizzas Sold: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</a:rPr>
              <a:t>Create a bar chart highlighting the top 5 best-selling pizzas based on the total number of pizzas sold. This Chart will help us identify the most popular pizza options.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7.Bottom 5 Worst sellers by Total Pizzas Sold:</a:t>
            </a:r>
          </a:p>
          <a:p>
            <a:pPr marL="0" indent="0">
              <a:buNone/>
            </a:pPr>
            <a:r>
              <a:rPr lang="en-US" sz="2200" dirty="0">
                <a:solidFill>
                  <a:schemeClr val="bg1">
                    <a:lumMod val="95000"/>
                  </a:schemeClr>
                </a:solidFill>
              </a:rPr>
              <a:t>Create a bar chart showcasing the bottom 5 selling pizza based on the total number of pizza sold. This chart will enable us to identify underperforming or less popular pizza options.</a:t>
            </a:r>
          </a:p>
        </p:txBody>
      </p:sp>
    </p:spTree>
    <p:extLst>
      <p:ext uri="{BB962C8B-B14F-4D97-AF65-F5344CB8AC3E}">
        <p14:creationId xmlns:p14="http://schemas.microsoft.com/office/powerpoint/2010/main" val="161890625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Words>477</Words>
  <Application>Microsoft Office PowerPoint</Application>
  <PresentationFormat>Widescreen</PresentationFormat>
  <Paragraphs>36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2" baseType="lpstr">
      <vt:lpstr>Arial</vt:lpstr>
      <vt:lpstr>Arial Black</vt:lpstr>
      <vt:lpstr>Calibri</vt:lpstr>
      <vt:lpstr>Calibri Light</vt:lpstr>
      <vt:lpstr>Cascadia Code SemiBold</vt:lpstr>
      <vt:lpstr>Montserrat</vt:lpstr>
      <vt:lpstr>Segoe UI </vt:lpstr>
      <vt:lpstr>Office Theme</vt:lpstr>
      <vt:lpstr>Pizza Sales</vt:lpstr>
      <vt:lpstr>PROBLEM STATEMENT</vt:lpstr>
      <vt:lpstr>PROBLEM STATEMENT</vt:lpstr>
      <vt:lpstr>PROBLEM STATEMENT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maru aaryan</dc:creator>
  <cp:lastModifiedBy>maru aaryan</cp:lastModifiedBy>
  <cp:revision>2</cp:revision>
  <dcterms:created xsi:type="dcterms:W3CDTF">2026-02-28T16:51:22Z</dcterms:created>
  <dcterms:modified xsi:type="dcterms:W3CDTF">2026-03-01T17:07:54Z</dcterms:modified>
</cp:coreProperties>
</file>